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A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ouse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640080"/>
            <a:ext cx="1097280" cy="1097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874519"/>
            <a:ext cx="10881360" cy="822960"/>
          </a:xfrm>
          <a:prstGeom prst="rect">
            <a:avLst/>
          </a:prstGeom>
          <a:noFill/>
        </p:spPr>
        <p:txBody rtl="1">
          <a:bodyPr wrap="square"/>
          <a:lstStyle/>
          <a:p>
            <a:pPr algn="ctr">
              <a:spcAft>
                <a:spcPts val="0"/>
              </a:spcAft>
            </a:pPr>
            <a:r>
              <a:rPr sz="4400" b="1" i="0">
                <a:solidFill>
                  <a:srgbClr val="F3EBDC"/>
                </a:solidFill>
                <a:latin typeface="Arial"/>
              </a:rPr>
              <a:t>الأرض غير المقروءة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974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4A06A"/>
                </a:solidFill>
                <a:latin typeface="Arial"/>
              </a:rPr>
              <a:t>UNREAD GROUND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200400"/>
            <a:ext cx="9601200" cy="822960"/>
          </a:xfrm>
          <a:prstGeom prst="rect">
            <a:avLst/>
          </a:prstGeom>
          <a:noFill/>
        </p:spPr>
        <p:txBody rtl="1">
          <a:bodyPr wrap="square"/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A89F90"/>
                </a:solidFill>
                <a:latin typeface="Arial"/>
              </a:rPr>
              <a:t>أداة تعليمية تثقيفية للمعلم — سيناريوهات تفاعلية لما لم يُرَ أولًا</a:t>
            </a:r>
          </a:p>
        </p:txBody>
      </p:sp>
      <p:sp>
        <p:nvSpPr>
          <p:cNvPr id="8" name="Rectangle 7"/>
          <p:cNvSpPr/>
          <p:nvPr/>
        </p:nvSpPr>
        <p:spPr>
          <a:xfrm>
            <a:off x="4937760" y="4160520"/>
            <a:ext cx="2286000" cy="32004"/>
          </a:xfrm>
          <a:prstGeom prst="rect">
            <a:avLst/>
          </a:prstGeom>
          <a:solidFill>
            <a:srgbClr val="C4A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709160"/>
            <a:ext cx="10881360" cy="365760"/>
          </a:xfrm>
          <a:prstGeom prst="rect">
            <a:avLst/>
          </a:prstGeom>
          <a:noFill/>
        </p:spPr>
        <p:txBody rtl="1">
          <a:bodyPr wrap="square"/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F3EBDC"/>
                </a:solidFill>
                <a:latin typeface="Arial"/>
              </a:rPr>
              <a:t>فهد أحمد الظاهري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07492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4A06A"/>
                </a:solidFill>
                <a:latin typeface="Arial"/>
              </a:rPr>
              <a:t>دورة  ·  vibe coding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126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89F90"/>
                </a:solidFill>
                <a:latin typeface="Arial"/>
              </a:rPr>
              <a:t>Classroom after-action  ·  Not combat instruction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A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 rtl="1">
          <a:bodyPr wrap="square"/>
          <a:lstStyle/>
          <a:p>
            <a:pPr algn="r">
              <a:spcAft>
                <a:spcPts val="0"/>
              </a:spcAft>
            </a:pPr>
            <a:r>
              <a:rPr sz="2800" b="1" i="0">
                <a:solidFill>
                  <a:srgbClr val="F3EBDC"/>
                </a:solidFill>
                <a:latin typeface="Arial"/>
              </a:rPr>
              <a:t>الفهرس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4A06A"/>
                </a:solidFill>
                <a:latin typeface="Arial"/>
              </a:rPr>
              <a:t>Index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800" b="0" i="0">
                <a:solidFill>
                  <a:srgbClr val="F3EBDC"/>
                </a:solidFill>
                <a:latin typeface="Arial"/>
              </a:rPr>
              <a:t>•  ١. الغرض التعليمي</a:t>
            </a:r>
          </a:p>
          <a:p>
            <a:pPr algn="r">
              <a:spcAft>
                <a:spcPts val="800"/>
              </a:spcAft>
            </a:pPr>
            <a:r>
              <a:rPr sz="1800" b="0" i="0">
                <a:solidFill>
                  <a:srgbClr val="F3EBDC"/>
                </a:solidFill>
                <a:latin typeface="Arial"/>
              </a:rPr>
              <a:t>•  ٢. كيف يستخدمه المعلم</a:t>
            </a:r>
          </a:p>
          <a:p>
            <a:pPr algn="r">
              <a:spcAft>
                <a:spcPts val="800"/>
              </a:spcAft>
            </a:pPr>
            <a:r>
              <a:rPr sz="1800" b="0" i="0">
                <a:solidFill>
                  <a:srgbClr val="F3EBDC"/>
                </a:solidFill>
                <a:latin typeface="Arial"/>
              </a:rPr>
              <a:t>•  ٣. الدخول — Force log in</a:t>
            </a:r>
          </a:p>
          <a:p>
            <a:pPr algn="r">
              <a:spcAft>
                <a:spcPts val="800"/>
              </a:spcAft>
            </a:pPr>
            <a:r>
              <a:rPr sz="1800" b="0" i="0">
                <a:solidFill>
                  <a:srgbClr val="F3EBDC"/>
                </a:solidFill>
                <a:latin typeface="Arial"/>
              </a:rPr>
              <a:t>•  ٤. الصفحة الرئيسية</a:t>
            </a:r>
          </a:p>
          <a:p>
            <a:pPr algn="r">
              <a:spcAft>
                <a:spcPts val="800"/>
              </a:spcAft>
            </a:pPr>
            <a:r>
              <a:rPr sz="1800" b="0" i="0">
                <a:solidFill>
                  <a:srgbClr val="F3EBDC"/>
                </a:solidFill>
                <a:latin typeface="Arial"/>
              </a:rPr>
              <a:t>•  ٥. ثنائية اللغة</a:t>
            </a:r>
          </a:p>
          <a:p>
            <a:pPr algn="r">
              <a:spcAft>
                <a:spcPts val="800"/>
              </a:spcAft>
            </a:pPr>
            <a:r>
              <a:rPr sz="1800" b="0" i="0">
                <a:solidFill>
                  <a:srgbClr val="F3EBDC"/>
                </a:solidFill>
                <a:latin typeface="Arial"/>
              </a:rPr>
              <a:t>•  ٦. الكرة الزمنية</a:t>
            </a:r>
          </a:p>
          <a:p>
            <a:pPr algn="r">
              <a:spcAft>
                <a:spcPts val="800"/>
              </a:spcAft>
            </a:pPr>
            <a:r>
              <a:rPr sz="1800" b="0" i="0">
                <a:solidFill>
                  <a:srgbClr val="F3EBDC"/>
                </a:solidFill>
                <a:latin typeface="Arial"/>
              </a:rPr>
              <a:t>•  ٧. مسار الشقة</a:t>
            </a:r>
          </a:p>
          <a:p>
            <a:pPr algn="r">
              <a:spcAft>
                <a:spcPts val="800"/>
              </a:spcAft>
            </a:pPr>
            <a:r>
              <a:rPr sz="1800" b="0" i="0">
                <a:solidFill>
                  <a:srgbClr val="F3EBDC"/>
                </a:solidFill>
                <a:latin typeface="Arial"/>
              </a:rPr>
              <a:t>•  ٨. الممر والدرج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51206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800" b="0" i="0">
                <a:solidFill>
                  <a:srgbClr val="F3EBDC"/>
                </a:solidFill>
                <a:latin typeface="Arial"/>
              </a:rPr>
              <a:t>•  ٩. فيلير-بوكاج</a:t>
            </a:r>
          </a:p>
          <a:p>
            <a:pPr algn="r">
              <a:spcAft>
                <a:spcPts val="800"/>
              </a:spcAft>
            </a:pPr>
            <a:r>
              <a:rPr sz="1800" b="0" i="0">
                <a:solidFill>
                  <a:srgbClr val="F3EBDC"/>
                </a:solidFill>
                <a:latin typeface="Arial"/>
              </a:rPr>
              <a:t>•  ١٠. صومعة ستالينغراد</a:t>
            </a:r>
          </a:p>
          <a:p>
            <a:pPr algn="r">
              <a:spcAft>
                <a:spcPts val="800"/>
              </a:spcAft>
            </a:pPr>
            <a:r>
              <a:rPr sz="1800" b="0" i="0">
                <a:solidFill>
                  <a:srgbClr val="F3EBDC"/>
                </a:solidFill>
                <a:latin typeface="Arial"/>
              </a:rPr>
              <a:t>•  ١١. ممر قصرين</a:t>
            </a:r>
          </a:p>
          <a:p>
            <a:pPr algn="r">
              <a:spcAft>
                <a:spcPts val="800"/>
              </a:spcAft>
            </a:pPr>
            <a:r>
              <a:rPr sz="1800" b="0" i="0">
                <a:solidFill>
                  <a:srgbClr val="F3EBDC"/>
                </a:solidFill>
                <a:latin typeface="Arial"/>
              </a:rPr>
              <a:t>•  ١٢. محاكي الصف</a:t>
            </a:r>
          </a:p>
          <a:p>
            <a:pPr algn="r">
              <a:spcAft>
                <a:spcPts val="800"/>
              </a:spcAft>
            </a:pPr>
            <a:r>
              <a:rPr sz="1800" b="0" i="0">
                <a:solidFill>
                  <a:srgbClr val="F3EBDC"/>
                </a:solidFill>
                <a:latin typeface="Arial"/>
              </a:rPr>
              <a:t>•  ١٣. سيناريوهات إضافية</a:t>
            </a:r>
          </a:p>
          <a:p>
            <a:pPr algn="r">
              <a:spcAft>
                <a:spcPts val="800"/>
              </a:spcAft>
            </a:pPr>
            <a:r>
              <a:rPr sz="1800" b="0" i="0">
                <a:solidFill>
                  <a:srgbClr val="F3EBDC"/>
                </a:solidFill>
                <a:latin typeface="Arial"/>
              </a:rPr>
              <a:t>•  ١٤. أداء الطلاب</a:t>
            </a:r>
          </a:p>
          <a:p>
            <a:pPr algn="r">
              <a:spcAft>
                <a:spcPts val="800"/>
              </a:spcAft>
            </a:pPr>
            <a:r>
              <a:rPr sz="1800" b="0" i="0">
                <a:solidFill>
                  <a:srgbClr val="F3EBDC"/>
                </a:solidFill>
                <a:latin typeface="Arial"/>
              </a:rPr>
              <a:t>•  ١٥. لوحة الصف ولوحة الحرب</a:t>
            </a:r>
          </a:p>
          <a:p>
            <a:pPr algn="r">
              <a:spcAft>
                <a:spcPts val="800"/>
              </a:spcAft>
            </a:pPr>
            <a:r>
              <a:rPr sz="1800" b="0" i="0">
                <a:solidFill>
                  <a:srgbClr val="F3EBDC"/>
                </a:solidFill>
                <a:latin typeface="Arial"/>
              </a:rPr>
              <a:t>•  ١٦. ما هو هذا — وما ليس هو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37960"/>
            <a:ext cx="7315200" cy="256032"/>
          </a:xfrm>
          <a:prstGeom prst="rect">
            <a:avLst/>
          </a:prstGeom>
          <a:noFill/>
        </p:spPr>
        <p:txBody rtl="1"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9F90"/>
                </a:solidFill>
                <a:latin typeface="Arial"/>
              </a:rPr>
              <a:t>فهد أحمد الظاهري  ·  vibe coding  ·  Unread Ground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3796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89F90"/>
                </a:solidFill>
                <a:latin typeface="Arial"/>
              </a:rPr>
              <a:t>2  / 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A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 rtl="1">
          <a:bodyPr wrap="square"/>
          <a:lstStyle/>
          <a:p>
            <a:pPr algn="r">
              <a:spcAft>
                <a:spcPts val="0"/>
              </a:spcAft>
            </a:pPr>
            <a:r>
              <a:rPr sz="2800" b="1" i="0">
                <a:solidFill>
                  <a:srgbClr val="F3EBDC"/>
                </a:solidFill>
                <a:latin typeface="Arial"/>
              </a:rPr>
              <a:t>الغرض الأساسي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4A06A"/>
                </a:solidFill>
                <a:latin typeface="Arial"/>
              </a:rPr>
              <a:t>Why this classroom exists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57607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700" b="0" i="0">
                <a:solidFill>
                  <a:srgbClr val="F3EBDC"/>
                </a:solidFill>
                <a:latin typeface="Arial"/>
              </a:rPr>
              <a:t>•  أداة للمعلم: يشرح بها التاريخ بصريًا لا كمحاضرة جامدة.</a:t>
            </a:r>
          </a:p>
          <a:p>
            <a:pPr algn="r">
              <a:spcAft>
                <a:spcPts val="800"/>
              </a:spcAft>
            </a:pPr>
            <a:r>
              <a:rPr sz="1700" b="0" i="0">
                <a:solidFill>
                  <a:srgbClr val="F3EBDC"/>
                </a:solidFill>
                <a:latin typeface="Arial"/>
              </a:rPr>
              <a:t>•  تثقيف: ماذا لم يُرَ، ماذا أخطأ، وكيف يُتجنَّب التكرار.</a:t>
            </a:r>
          </a:p>
          <a:p>
            <a:pPr algn="r">
              <a:spcAft>
                <a:spcPts val="800"/>
              </a:spcAft>
            </a:pPr>
            <a:r>
              <a:rPr sz="1700" b="0" i="0">
                <a:solidFill>
                  <a:srgbClr val="F3EBDC"/>
                </a:solidFill>
                <a:latin typeface="Arial"/>
              </a:rPr>
              <a:t>•  تفاعل: الكرة، المسارات، والقرارات بدل الشرائح الثابتة.</a:t>
            </a:r>
          </a:p>
          <a:p>
            <a:pPr algn="r">
              <a:spcAft>
                <a:spcPts val="800"/>
              </a:spcAft>
            </a:pPr>
            <a:r>
              <a:rPr sz="1700" b="0" i="0">
                <a:solidFill>
                  <a:srgbClr val="F3EBDC"/>
                </a:solidFill>
                <a:latin typeface="Arial"/>
              </a:rPr>
              <a:t>•  سيناريوهات مسماة من سجل عام — فيلير، الصومعة، قصرين.</a:t>
            </a:r>
          </a:p>
          <a:p>
            <a:pPr algn="r">
              <a:spcAft>
                <a:spcPts val="800"/>
              </a:spcAft>
            </a:pPr>
            <a:r>
              <a:rPr sz="1700" b="0" i="0">
                <a:solidFill>
                  <a:srgbClr val="F3EBDC"/>
                </a:solidFill>
                <a:latin typeface="Arial"/>
              </a:rPr>
              <a:t>•  بعد عمل للحكم، لا درس قتال ولا طريقة اقتحام.</a:t>
            </a:r>
          </a:p>
          <a:p>
            <a:pPr algn="r">
              <a:spcAft>
                <a:spcPts val="800"/>
              </a:spcAft>
            </a:pPr>
            <a:r>
              <a:rPr sz="1700" b="0" i="0">
                <a:solidFill>
                  <a:srgbClr val="F3EBDC"/>
                </a:solidFill>
                <a:latin typeface="Arial"/>
              </a:rPr>
              <a:t>•  عربي وإنجليزي في نفس الصف، مع اتجاه الصفحة.</a:t>
            </a:r>
          </a:p>
        </p:txBody>
      </p:sp>
      <p:pic>
        <p:nvPicPr>
          <p:cNvPr id="7" name="Picture 6" descr="02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34440"/>
            <a:ext cx="5212080" cy="3246120"/>
          </a:xfrm>
          <a:prstGeom prst="rect">
            <a:avLst/>
          </a:prstGeom>
          <a:ln w="12700">
            <a:solidFill>
              <a:srgbClr val="2A2F38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492240" y="4617720"/>
            <a:ext cx="5212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9F90"/>
                </a:solidFill>
                <a:latin typeface="Arial"/>
              </a:rPr>
              <a:t>A next-gen after-action suite: reconstruct public events so an instructor can walk a class through what was not seen first.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537960"/>
            <a:ext cx="7315200" cy="256032"/>
          </a:xfrm>
          <a:prstGeom prst="rect">
            <a:avLst/>
          </a:prstGeom>
          <a:noFill/>
        </p:spPr>
        <p:txBody rtl="1"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9F90"/>
                </a:solidFill>
                <a:latin typeface="Arial"/>
              </a:rPr>
              <a:t>فهد أحمد الظاهري  ·  vibe coding  ·  Unread Ground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53796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89F90"/>
                </a:solidFill>
                <a:latin typeface="Arial"/>
              </a:rPr>
              <a:t>3  / 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A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 rtl="1">
          <a:bodyPr wrap="square"/>
          <a:lstStyle/>
          <a:p>
            <a:pPr algn="r">
              <a:spcAft>
                <a:spcPts val="0"/>
              </a:spcAft>
            </a:pPr>
            <a:r>
              <a:rPr sz="2800" b="1" i="0">
                <a:solidFill>
                  <a:srgbClr val="F3EBDC"/>
                </a:solidFill>
                <a:latin typeface="Arial"/>
              </a:rPr>
              <a:t>حصة مقترحة — ٤٥ دقيقة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4A06A"/>
                </a:solidFill>
                <a:latin typeface="Arial"/>
              </a:rPr>
              <a:t>A suggested lesson the instructor actually runs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280160"/>
            <a:ext cx="2194560" cy="4206240"/>
          </a:xfrm>
          <a:prstGeom prst="roundRect">
            <a:avLst/>
          </a:prstGeom>
          <a:solidFill>
            <a:srgbClr val="141820"/>
          </a:solidFill>
          <a:ln>
            <a:solidFill>
              <a:srgbClr val="2A2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" y="1463040"/>
            <a:ext cx="1975104" cy="640080"/>
          </a:xfrm>
          <a:prstGeom prst="rect">
            <a:avLst/>
          </a:prstGeom>
          <a:noFill/>
        </p:spPr>
        <p:txBody rtl="1">
          <a:bodyPr wrap="square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C4A06A"/>
                </a:solidFill>
                <a:latin typeface="Arial"/>
              </a:rPr>
              <a:t>٥ دقائق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" y="2194560"/>
            <a:ext cx="1938528" cy="3017520"/>
          </a:xfrm>
          <a:prstGeom prst="rect">
            <a:avLst/>
          </a:prstGeom>
          <a:noFill/>
        </p:spPr>
        <p:txBody rtl="1">
          <a:bodyPr wrap="square"/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F3EBDC"/>
                </a:solidFill>
                <a:latin typeface="Arial"/>
              </a:rPr>
              <a:t>Force log in ثم السؤال الافتتاحي: ماذا لو لم نرَ الزاوية؟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1280160"/>
            <a:ext cx="2194560" cy="4206240"/>
          </a:xfrm>
          <a:prstGeom prst="roundRect">
            <a:avLst/>
          </a:prstGeom>
          <a:solidFill>
            <a:srgbClr val="141820"/>
          </a:solidFill>
          <a:ln>
            <a:solidFill>
              <a:srgbClr val="2A2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52928" y="1463040"/>
            <a:ext cx="1975104" cy="640080"/>
          </a:xfrm>
          <a:prstGeom prst="rect">
            <a:avLst/>
          </a:prstGeom>
          <a:noFill/>
        </p:spPr>
        <p:txBody rtl="1">
          <a:bodyPr wrap="square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C4A06A"/>
                </a:solidFill>
                <a:latin typeface="Arial"/>
              </a:rPr>
              <a:t>١٢ دقيقة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71216" y="2194560"/>
            <a:ext cx="1938528" cy="3017520"/>
          </a:xfrm>
          <a:prstGeom prst="rect">
            <a:avLst/>
          </a:prstGeom>
          <a:noFill/>
        </p:spPr>
        <p:txBody rtl="1">
          <a:bodyPr wrap="square"/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F3EBDC"/>
                </a:solidFill>
                <a:latin typeface="Arial"/>
              </a:rPr>
              <a:t>الكرة: سنة واحدة، حدث واحد، ثم صمت قصير قبل النقاش.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74920" y="1280160"/>
            <a:ext cx="2194560" cy="4206240"/>
          </a:xfrm>
          <a:prstGeom prst="roundRect">
            <a:avLst/>
          </a:prstGeom>
          <a:solidFill>
            <a:srgbClr val="141820"/>
          </a:solidFill>
          <a:ln>
            <a:solidFill>
              <a:srgbClr val="2A2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84648" y="1463040"/>
            <a:ext cx="1975104" cy="640080"/>
          </a:xfrm>
          <a:prstGeom prst="rect">
            <a:avLst/>
          </a:prstGeom>
          <a:noFill/>
        </p:spPr>
        <p:txBody rtl="1">
          <a:bodyPr wrap="square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C4A06A"/>
                </a:solidFill>
                <a:latin typeface="Arial"/>
              </a:rPr>
              <a:t>١٥ دقيقة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02936" y="2194560"/>
            <a:ext cx="1938528" cy="3017520"/>
          </a:xfrm>
          <a:prstGeom prst="rect">
            <a:avLst/>
          </a:prstGeom>
          <a:noFill/>
        </p:spPr>
        <p:txBody rtl="1">
          <a:bodyPr wrap="square"/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F3EBDC"/>
                </a:solidFill>
                <a:latin typeface="Arial"/>
              </a:rPr>
              <a:t>سيناريو تفاعلي (شقة أو فيلير). يوقف المعلم عند كل قرار.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1280160"/>
            <a:ext cx="2194560" cy="4206240"/>
          </a:xfrm>
          <a:prstGeom prst="roundRect">
            <a:avLst/>
          </a:prstGeom>
          <a:solidFill>
            <a:srgbClr val="141820"/>
          </a:solidFill>
          <a:ln>
            <a:solidFill>
              <a:srgbClr val="2A2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16367" y="1463040"/>
            <a:ext cx="1975104" cy="640080"/>
          </a:xfrm>
          <a:prstGeom prst="rect">
            <a:avLst/>
          </a:prstGeom>
          <a:noFill/>
        </p:spPr>
        <p:txBody rtl="1">
          <a:bodyPr wrap="square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C4A06A"/>
                </a:solidFill>
                <a:latin typeface="Arial"/>
              </a:rPr>
              <a:t>٨ دقائق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34656" y="2194560"/>
            <a:ext cx="1938528" cy="3017520"/>
          </a:xfrm>
          <a:prstGeom prst="rect">
            <a:avLst/>
          </a:prstGeom>
          <a:noFill/>
        </p:spPr>
        <p:txBody rtl="1">
          <a:bodyPr wrap="square"/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F3EBDC"/>
                </a:solidFill>
                <a:latin typeface="Arial"/>
              </a:rPr>
              <a:t>لوحة الطلاب أو لوحة الحرب — أرقام من صفر إلى الرقم.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38359" y="1280160"/>
            <a:ext cx="2194560" cy="4206240"/>
          </a:xfrm>
          <a:prstGeom prst="roundRect">
            <a:avLst/>
          </a:prstGeom>
          <a:solidFill>
            <a:srgbClr val="141820"/>
          </a:solidFill>
          <a:ln>
            <a:solidFill>
              <a:srgbClr val="2A2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48087" y="1463040"/>
            <a:ext cx="1975104" cy="640080"/>
          </a:xfrm>
          <a:prstGeom prst="rect">
            <a:avLst/>
          </a:prstGeom>
          <a:noFill/>
        </p:spPr>
        <p:txBody rtl="1">
          <a:bodyPr wrap="square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C4A06A"/>
                </a:solidFill>
                <a:latin typeface="Arial"/>
              </a:rPr>
              <a:t>٥ دقائق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66376" y="2194560"/>
            <a:ext cx="1938528" cy="3017520"/>
          </a:xfrm>
          <a:prstGeom prst="rect">
            <a:avLst/>
          </a:prstGeom>
          <a:noFill/>
        </p:spPr>
        <p:txBody rtl="1">
          <a:bodyPr wrap="square"/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F3EBDC"/>
                </a:solidFill>
                <a:latin typeface="Arial"/>
              </a:rPr>
              <a:t>جملة واحدة لكل طالب: ما الذي لم يُقرأ على الأرض؟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537960"/>
            <a:ext cx="7315200" cy="256032"/>
          </a:xfrm>
          <a:prstGeom prst="rect">
            <a:avLst/>
          </a:prstGeom>
          <a:noFill/>
        </p:spPr>
        <p:txBody rtl="1"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9F90"/>
                </a:solidFill>
                <a:latin typeface="Arial"/>
              </a:rPr>
              <a:t>فهد أحمد الظاهري  ·  vibe coding  ·  Unread Ground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653796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89F90"/>
                </a:solidFill>
                <a:latin typeface="Arial"/>
              </a:rPr>
              <a:t>4  / 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A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 rtl="1">
          <a:bodyPr wrap="square"/>
          <a:lstStyle/>
          <a:p>
            <a:pPr algn="r">
              <a:spcAft>
                <a:spcPts val="0"/>
              </a:spcAft>
            </a:pPr>
            <a:r>
              <a:rPr sz="2800" b="1" i="0">
                <a:solidFill>
                  <a:srgbClr val="F3EBDC"/>
                </a:solidFill>
                <a:latin typeface="Arial"/>
              </a:rPr>
              <a:t>الدخول السريع — Force log 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4A06A"/>
                </a:solidFill>
                <a:latin typeface="Arial"/>
              </a:rPr>
              <a:t>Skip the account. Open the classroom.</a:t>
            </a:r>
          </a:p>
        </p:txBody>
      </p:sp>
      <p:pic>
        <p:nvPicPr>
          <p:cNvPr id="6" name="Picture 5" descr="01-login-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43000"/>
            <a:ext cx="6766560" cy="4206240"/>
          </a:xfrm>
          <a:prstGeom prst="rect">
            <a:avLst/>
          </a:prstGeom>
          <a:ln w="12700">
            <a:solidFill>
              <a:srgbClr val="2A2F38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7360920" y="1234440"/>
            <a:ext cx="4389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600" b="0" i="0">
                <a:solidFill>
                  <a:srgbClr val="F3EBDC"/>
                </a:solidFill>
                <a:latin typeface="Arial"/>
              </a:rPr>
              <a:t>•  للعرض والتخرج: دخول بلا حساب.</a:t>
            </a:r>
          </a:p>
          <a:p>
            <a:pPr algn="r">
              <a:spcAft>
                <a:spcPts val="800"/>
              </a:spcAft>
            </a:pPr>
            <a:r>
              <a:rPr sz="1600" b="0" i="0">
                <a:solidFill>
                  <a:srgbClr val="F3EBDC"/>
                </a:solidFill>
                <a:latin typeface="Arial"/>
              </a:rPr>
              <a:t>•  يحفظ الضيف في المتصفح.</a:t>
            </a:r>
          </a:p>
          <a:p>
            <a:pPr algn="r">
              <a:spcAft>
                <a:spcPts val="800"/>
              </a:spcAft>
            </a:pPr>
            <a:r>
              <a:rPr sz="1600" b="0" i="0">
                <a:solidFill>
                  <a:srgbClr val="F3EBDC"/>
                </a:solidFill>
                <a:latin typeface="Arial"/>
              </a:rPr>
              <a:t>•  بعده تفتح الرئيسية والكرة واللوحة.</a:t>
            </a:r>
          </a:p>
          <a:p>
            <a:pPr algn="r">
              <a:spcAft>
                <a:spcPts val="800"/>
              </a:spcAft>
            </a:pPr>
            <a:r>
              <a:rPr sz="1600" b="0" i="0">
                <a:solidFill>
                  <a:srgbClr val="F3EBDC"/>
                </a:solidFill>
                <a:latin typeface="Arial"/>
              </a:rPr>
              <a:t>•  التسجيل العادي موجود إن لزم.</a:t>
            </a:r>
          </a:p>
          <a:p>
            <a:pPr algn="r">
              <a:spcAft>
                <a:spcPts val="800"/>
              </a:spcAft>
            </a:pPr>
            <a:r>
              <a:rPr sz="1600" b="0" i="0">
                <a:solidFill>
                  <a:srgbClr val="F3EBDC"/>
                </a:solidFill>
                <a:latin typeface="Arial"/>
              </a:rPr>
              <a:t>•  زر واضح أعلى بطاقة الدخول.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37960"/>
            <a:ext cx="7315200" cy="256032"/>
          </a:xfrm>
          <a:prstGeom prst="rect">
            <a:avLst/>
          </a:prstGeom>
          <a:noFill/>
        </p:spPr>
        <p:txBody rtl="1"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9F90"/>
                </a:solidFill>
                <a:latin typeface="Arial"/>
              </a:rPr>
              <a:t>فهد أحمد الظاهري  ·  vibe coding  ·  Unread Ground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3796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89F90"/>
                </a:solidFill>
                <a:latin typeface="Arial"/>
              </a:rPr>
              <a:t>5  / 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A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 rtl="1">
          <a:bodyPr wrap="square"/>
          <a:lstStyle/>
          <a:p>
            <a:pPr algn="r">
              <a:spcAft>
                <a:spcPts val="0"/>
              </a:spcAft>
            </a:pPr>
            <a:r>
              <a:rPr sz="2800" b="1" i="0">
                <a:solidFill>
                  <a:srgbClr val="F3EBDC"/>
                </a:solidFill>
                <a:latin typeface="Arial"/>
              </a:rPr>
              <a:t>الصفحة الرئيسية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4A06A"/>
                </a:solidFill>
                <a:latin typeface="Arial"/>
              </a:rPr>
              <a:t>The instructor home — house mark, purpose, cases</a:t>
            </a:r>
          </a:p>
        </p:txBody>
      </p:sp>
      <p:pic>
        <p:nvPicPr>
          <p:cNvPr id="6" name="Picture 5" descr="02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15568"/>
            <a:ext cx="7315200" cy="4572000"/>
          </a:xfrm>
          <a:prstGeom prst="rect">
            <a:avLst/>
          </a:prstGeom>
          <a:ln w="12700">
            <a:solidFill>
              <a:srgbClr val="2A2F38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7818120" y="1234440"/>
            <a:ext cx="4023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600" b="0" i="0">
                <a:solidFill>
                  <a:srgbClr val="F3EBDC"/>
                </a:solidFill>
                <a:latin typeface="Arial"/>
              </a:rPr>
              <a:t>•  علامة البيت في الشريط.</a:t>
            </a:r>
          </a:p>
          <a:p>
            <a:pPr algn="r">
              <a:spcAft>
                <a:spcPts val="800"/>
              </a:spcAft>
            </a:pPr>
            <a:r>
              <a:rPr sz="1600" b="0" i="0">
                <a:solidFill>
                  <a:srgbClr val="F3EBDC"/>
                </a:solidFill>
                <a:latin typeface="Arial"/>
              </a:rPr>
              <a:t>•  تبويب: رئيسية، طلاب، لوحة.</a:t>
            </a:r>
          </a:p>
          <a:p>
            <a:pPr algn="r">
              <a:spcAft>
                <a:spcPts val="800"/>
              </a:spcAft>
            </a:pPr>
            <a:r>
              <a:rPr sz="1600" b="0" i="0">
                <a:solidFill>
                  <a:srgbClr val="F3EBDC"/>
                </a:solidFill>
                <a:latin typeface="Arial"/>
              </a:rPr>
              <a:t>•  الغرض: ماذا هذا وما ليس هذا.</a:t>
            </a:r>
          </a:p>
          <a:p>
            <a:pPr algn="r">
              <a:spcAft>
                <a:spcPts val="800"/>
              </a:spcAft>
            </a:pPr>
            <a:r>
              <a:rPr sz="1600" b="0" i="0">
                <a:solidFill>
                  <a:srgbClr val="F3EBDC"/>
                </a:solidFill>
                <a:latin typeface="Arial"/>
              </a:rPr>
              <a:t>•  ملفات القضايا الست.</a:t>
            </a:r>
          </a:p>
          <a:p>
            <a:pPr algn="r">
              <a:spcAft>
                <a:spcPts val="800"/>
              </a:spcAft>
            </a:pPr>
            <a:r>
              <a:rPr sz="1600" b="0" i="0">
                <a:solidFill>
                  <a:srgbClr val="F3EBDC"/>
                </a:solidFill>
                <a:latin typeface="Arial"/>
              </a:rPr>
              <a:t>•  اقتباسات ومصادر عامة.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37960"/>
            <a:ext cx="7315200" cy="256032"/>
          </a:xfrm>
          <a:prstGeom prst="rect">
            <a:avLst/>
          </a:prstGeom>
          <a:noFill/>
        </p:spPr>
        <p:txBody rtl="1"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9F90"/>
                </a:solidFill>
                <a:latin typeface="Arial"/>
              </a:rPr>
              <a:t>فهد أحمد الظاهري  ·  vibe coding  ·  Unread Ground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3796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89F90"/>
                </a:solidFill>
                <a:latin typeface="Arial"/>
              </a:rPr>
              <a:t>6  / 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A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 rtl="1">
          <a:bodyPr wrap="square"/>
          <a:lstStyle/>
          <a:p>
            <a:pPr algn="r">
              <a:spcAft>
                <a:spcPts val="0"/>
              </a:spcAft>
            </a:pPr>
            <a:r>
              <a:rPr sz="2800" b="1" i="0">
                <a:solidFill>
                  <a:srgbClr val="F3EBDC"/>
                </a:solidFill>
                <a:latin typeface="Arial"/>
              </a:rPr>
              <a:t>عربي وإنجليزي — نفس الصف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4A06A"/>
                </a:solidFill>
                <a:latin typeface="Arial"/>
              </a:rPr>
              <a:t>One classroom, two directions</a:t>
            </a:r>
          </a:p>
        </p:txBody>
      </p:sp>
      <p:pic>
        <p:nvPicPr>
          <p:cNvPr id="6" name="Picture 5" descr="02b-home-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43000"/>
            <a:ext cx="5760720" cy="3611880"/>
          </a:xfrm>
          <a:prstGeom prst="rect">
            <a:avLst/>
          </a:prstGeom>
          <a:ln w="12700">
            <a:solidFill>
              <a:srgbClr val="2A2F38"/>
            </a:solidFill>
          </a:ln>
        </p:spPr>
      </p:pic>
      <p:pic>
        <p:nvPicPr>
          <p:cNvPr id="7" name="Picture 6" descr="01b-login-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143000"/>
            <a:ext cx="5486400" cy="3611880"/>
          </a:xfrm>
          <a:prstGeom prst="rect">
            <a:avLst/>
          </a:prstGeom>
          <a:ln w="12700">
            <a:solidFill>
              <a:srgbClr val="2A2F38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457200" y="4937760"/>
            <a:ext cx="11247120" cy="1097280"/>
          </a:xfrm>
          <a:prstGeom prst="rect">
            <a:avLst/>
          </a:prstGeom>
          <a:noFill/>
        </p:spPr>
        <p:txBody rtl="1">
          <a:bodyPr wrap="square"/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F3EBDC"/>
                </a:solidFill>
                <a:latin typeface="Arial"/>
              </a:rPr>
              <a:t>زر اللغة يقلب الاتجاه فورًا. الحروف العربية متصلة. الوضع الداكن والفاتح والصوت للصف. المعلم يشرح بالعربية أو الإنجليزية دون نسختين من الموقع.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537960"/>
            <a:ext cx="7315200" cy="256032"/>
          </a:xfrm>
          <a:prstGeom prst="rect">
            <a:avLst/>
          </a:prstGeom>
          <a:noFill/>
        </p:spPr>
        <p:txBody rtl="1"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9F90"/>
                </a:solidFill>
                <a:latin typeface="Arial"/>
              </a:rPr>
              <a:t>فهد أحمد الظاهري  ·  vibe coding  ·  Unread Ground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53796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89F90"/>
                </a:solidFill>
                <a:latin typeface="Arial"/>
              </a:rPr>
              <a:t>7  / 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A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 rtl="1">
          <a:bodyPr wrap="square"/>
          <a:lstStyle/>
          <a:p>
            <a:pPr algn="r">
              <a:spcAft>
                <a:spcPts val="0"/>
              </a:spcAft>
            </a:pPr>
            <a:r>
              <a:rPr sz="2800" b="1" i="0">
                <a:solidFill>
                  <a:srgbClr val="F3EBDC"/>
                </a:solidFill>
                <a:latin typeface="Arial"/>
              </a:rPr>
              <a:t>الكرة الزمنية — الحرب كجغرافيا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4A06A"/>
                </a:solidFill>
                <a:latin typeface="Arial"/>
              </a:rPr>
              <a:t>North up. A year rail. Pins that stand 90° from the ground.</a:t>
            </a:r>
          </a:p>
        </p:txBody>
      </p:sp>
      <p:pic>
        <p:nvPicPr>
          <p:cNvPr id="6" name="Picture 5" descr="03-glo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15568"/>
            <a:ext cx="7406640" cy="4617720"/>
          </a:xfrm>
          <a:prstGeom prst="rect">
            <a:avLst/>
          </a:prstGeom>
          <a:ln w="12700">
            <a:solidFill>
              <a:srgbClr val="2A2F38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7955279" y="1234440"/>
            <a:ext cx="3840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500" b="0" i="0">
                <a:solidFill>
                  <a:srgbClr val="F3EBDC"/>
                </a:solidFill>
                <a:latin typeface="Arial"/>
              </a:rPr>
              <a:t>•  ٤٨ حدثًا من ١٩٣١ إلى ١٩٤٥.</a:t>
            </a:r>
          </a:p>
          <a:p>
            <a:pPr algn="r">
              <a:spcAft>
                <a:spcPts val="800"/>
              </a:spcAft>
            </a:pPr>
            <a:r>
              <a:rPr sz="1500" b="0" i="0">
                <a:solidFill>
                  <a:srgbClr val="F3EBDC"/>
                </a:solidFill>
                <a:latin typeface="Arial"/>
              </a:rPr>
              <a:t>•  الشمال دائمًا للأعلى.</a:t>
            </a:r>
          </a:p>
          <a:p>
            <a:pPr algn="r">
              <a:spcAft>
                <a:spcPts val="800"/>
              </a:spcAft>
            </a:pPr>
            <a:r>
              <a:rPr sz="1500" b="0" i="0">
                <a:solidFill>
                  <a:srgbClr val="F3EBDC"/>
                </a:solidFill>
                <a:latin typeface="Arial"/>
              </a:rPr>
              <a:t>•  تكبير متوسط عند التركيز.</a:t>
            </a:r>
          </a:p>
          <a:p>
            <a:pPr algn="r">
              <a:spcAft>
                <a:spcPts val="800"/>
              </a:spcAft>
            </a:pPr>
            <a:r>
              <a:rPr sz="1500" b="0" i="0">
                <a:solidFill>
                  <a:srgbClr val="F3EBDC"/>
                </a:solidFill>
                <a:latin typeface="Arial"/>
              </a:rPr>
              <a:t>•  شعاع العمود عمودي على الأرض.</a:t>
            </a:r>
          </a:p>
          <a:p>
            <a:pPr algn="r">
              <a:spcAft>
                <a:spcPts val="800"/>
              </a:spcAft>
            </a:pPr>
            <a:r>
              <a:rPr sz="1500" b="0" i="0">
                <a:solidFill>
                  <a:srgbClr val="F3EBDC"/>
                </a:solidFill>
                <a:latin typeface="Arial"/>
              </a:rPr>
              <a:t>•  عناوين وملخصات باللغتين.</a:t>
            </a:r>
          </a:p>
          <a:p>
            <a:pPr algn="r">
              <a:spcAft>
                <a:spcPts val="800"/>
              </a:spcAft>
            </a:pPr>
            <a:r>
              <a:rPr sz="1500" b="0" i="0">
                <a:solidFill>
                  <a:srgbClr val="F3EBDC"/>
                </a:solidFill>
                <a:latin typeface="Arial"/>
              </a:rPr>
              <a:t>•  المعلم يوقف السنة ويسأل.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37960"/>
            <a:ext cx="7315200" cy="256032"/>
          </a:xfrm>
          <a:prstGeom prst="rect">
            <a:avLst/>
          </a:prstGeom>
          <a:noFill/>
        </p:spPr>
        <p:txBody rtl="1"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9F90"/>
                </a:solidFill>
                <a:latin typeface="Arial"/>
              </a:rPr>
              <a:t>فهد أحمد الظاهري  ·  vibe coding  ·  Unread Ground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3796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89F90"/>
                </a:solidFill>
                <a:latin typeface="Arial"/>
              </a:rPr>
              <a:t>8  / 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A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 rtl="1">
          <a:bodyPr wrap="square"/>
          <a:lstStyle/>
          <a:p>
            <a:pPr algn="r">
              <a:spcAft>
                <a:spcPts val="0"/>
              </a:spcAft>
            </a:pPr>
            <a:r>
              <a:rPr sz="2800" b="1" i="0">
                <a:solidFill>
                  <a:srgbClr val="F3EBDC"/>
                </a:solidFill>
                <a:latin typeface="Arial"/>
              </a:rPr>
              <a:t>مسار الشقة — القرار عند العتبة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4A06A"/>
                </a:solidFill>
                <a:latin typeface="Arial"/>
              </a:rPr>
              <a:t>Apartment 4A: what you did not see first</a:t>
            </a:r>
          </a:p>
        </p:txBody>
      </p:sp>
      <p:pic>
        <p:nvPicPr>
          <p:cNvPr id="6" name="Picture 5" descr="04-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15568"/>
            <a:ext cx="7406640" cy="4617720"/>
          </a:xfrm>
          <a:prstGeom prst="rect">
            <a:avLst/>
          </a:prstGeom>
          <a:ln w="12700">
            <a:solidFill>
              <a:srgbClr val="2A2F38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7955279" y="1234440"/>
            <a:ext cx="3840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600" b="0" i="0">
                <a:solidFill>
                  <a:srgbClr val="F3EBDC"/>
                </a:solidFill>
                <a:latin typeface="Arial"/>
              </a:rPr>
              <a:t>•  خريطة من الأعلى.</a:t>
            </a:r>
          </a:p>
          <a:p>
            <a:pPr algn="r">
              <a:spcAft>
                <a:spcPts val="800"/>
              </a:spcAft>
            </a:pPr>
            <a:r>
              <a:rPr sz="1600" b="0" i="0">
                <a:solidFill>
                  <a:srgbClr val="F3EBDC"/>
                </a:solidFill>
                <a:latin typeface="Arial"/>
              </a:rPr>
              <a:t>•  كل خطوة ملاحظة للمعلم.</a:t>
            </a:r>
          </a:p>
          <a:p>
            <a:pPr algn="r">
              <a:spcAft>
                <a:spcPts val="800"/>
              </a:spcAft>
            </a:pPr>
            <a:r>
              <a:rPr sz="1600" b="0" i="0">
                <a:solidFill>
                  <a:srgbClr val="F3EBDC"/>
                </a:solidFill>
                <a:latin typeface="Arial"/>
              </a:rPr>
              <a:t>•  الخطأ يُسمّى لا يُمجَّد.</a:t>
            </a:r>
          </a:p>
          <a:p>
            <a:pPr algn="r">
              <a:spcAft>
                <a:spcPts val="800"/>
              </a:spcAft>
            </a:pPr>
            <a:r>
              <a:rPr sz="1600" b="0" i="0">
                <a:solidFill>
                  <a:srgbClr val="F3EBDC"/>
                </a:solidFill>
                <a:latin typeface="Arial"/>
              </a:rPr>
              <a:t>•  مناسب لحصة «انظر ثم تحرّك».</a:t>
            </a:r>
          </a:p>
          <a:p>
            <a:pPr algn="r">
              <a:spcAft>
                <a:spcPts val="800"/>
              </a:spcAft>
            </a:pPr>
            <a:r>
              <a:rPr sz="1600" b="0" i="0">
                <a:solidFill>
                  <a:srgbClr val="F3EBDC"/>
                </a:solidFill>
                <a:latin typeface="Arial"/>
              </a:rPr>
              <a:t>•  ليس تعليم اقتحام.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37960"/>
            <a:ext cx="7315200" cy="256032"/>
          </a:xfrm>
          <a:prstGeom prst="rect">
            <a:avLst/>
          </a:prstGeom>
          <a:noFill/>
        </p:spPr>
        <p:txBody rtl="1"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9F90"/>
                </a:solidFill>
                <a:latin typeface="Arial"/>
              </a:rPr>
              <a:t>فهد أحمد الظاهري  ·  vibe coding  ·  Unread Ground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3796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89F90"/>
                </a:solidFill>
                <a:latin typeface="Arial"/>
              </a:rPr>
              <a:t>9  / 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A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 rtl="1">
          <a:bodyPr wrap="square"/>
          <a:lstStyle/>
          <a:p>
            <a:pPr algn="r">
              <a:spcAft>
                <a:spcPts val="0"/>
              </a:spcAft>
            </a:pPr>
            <a:r>
              <a:rPr sz="2800" b="1" i="0">
                <a:solidFill>
                  <a:srgbClr val="F3EBDC"/>
                </a:solidFill>
                <a:latin typeface="Arial"/>
              </a:rPr>
              <a:t>الممر والدرج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4A06A"/>
                </a:solidFill>
                <a:latin typeface="Arial"/>
              </a:rPr>
              <a:t>Hall and stair: looking up before you step</a:t>
            </a:r>
          </a:p>
        </p:txBody>
      </p:sp>
      <p:pic>
        <p:nvPicPr>
          <p:cNvPr id="6" name="Picture 5" descr="05-h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15568"/>
            <a:ext cx="7406640" cy="4617720"/>
          </a:xfrm>
          <a:prstGeom prst="rect">
            <a:avLst/>
          </a:prstGeom>
          <a:ln w="12700">
            <a:solidFill>
              <a:srgbClr val="2A2F38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7955279" y="1234440"/>
            <a:ext cx="3840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600" b="0" i="0">
                <a:solidFill>
                  <a:srgbClr val="F3EBDC"/>
                </a:solidFill>
                <a:latin typeface="Arial"/>
              </a:rPr>
              <a:t>•  سيناريو الوعي العمودي.</a:t>
            </a:r>
          </a:p>
          <a:p>
            <a:pPr algn="r">
              <a:spcAft>
                <a:spcPts val="800"/>
              </a:spcAft>
            </a:pPr>
            <a:r>
              <a:rPr sz="1600" b="0" i="0">
                <a:solidFill>
                  <a:srgbClr val="F3EBDC"/>
                </a:solidFill>
                <a:latin typeface="Arial"/>
              </a:rPr>
              <a:t>•  الدرج يُنسى غالبًا في الشرح.</a:t>
            </a:r>
          </a:p>
          <a:p>
            <a:pPr algn="r">
              <a:spcAft>
                <a:spcPts val="800"/>
              </a:spcAft>
            </a:pPr>
            <a:r>
              <a:rPr sz="1600" b="0" i="0">
                <a:solidFill>
                  <a:srgbClr val="F3EBDC"/>
                </a:solidFill>
                <a:latin typeface="Arial"/>
              </a:rPr>
              <a:t>•  المعلم يسأل: من يغطي الأعلى؟</a:t>
            </a:r>
          </a:p>
          <a:p>
            <a:pPr algn="r">
              <a:spcAft>
                <a:spcPts val="800"/>
              </a:spcAft>
            </a:pPr>
            <a:r>
              <a:rPr sz="1600" b="0" i="0">
                <a:solidFill>
                  <a:srgbClr val="F3EBDC"/>
                </a:solidFill>
                <a:latin typeface="Arial"/>
              </a:rPr>
              <a:t>•  بعد عمل بصري لا محاضرة.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37960"/>
            <a:ext cx="7315200" cy="256032"/>
          </a:xfrm>
          <a:prstGeom prst="rect">
            <a:avLst/>
          </a:prstGeom>
          <a:noFill/>
        </p:spPr>
        <p:txBody rtl="1"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9F90"/>
                </a:solidFill>
                <a:latin typeface="Arial"/>
              </a:rPr>
              <a:t>فهد أحمد الظاهري  ·  vibe coding  ·  Unread Ground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3796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89F90"/>
                </a:solidFill>
                <a:latin typeface="Arial"/>
              </a:rPr>
              <a:t>10  / 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A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 rtl="1">
          <a:bodyPr wrap="square"/>
          <a:lstStyle/>
          <a:p>
            <a:pPr algn="r">
              <a:spcAft>
                <a:spcPts val="0"/>
              </a:spcAft>
            </a:pPr>
            <a:r>
              <a:rPr sz="2800" b="1" i="0">
                <a:solidFill>
                  <a:srgbClr val="F3EBDC"/>
                </a:solidFill>
                <a:latin typeface="Arial"/>
              </a:rPr>
              <a:t>ثلاث قضايا مسماة من الحرب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4A06A"/>
                </a:solidFill>
                <a:latin typeface="Arial"/>
              </a:rPr>
              <a:t>Villers-Bocage · Grain Elevator · Kasserine</a:t>
            </a:r>
          </a:p>
        </p:txBody>
      </p:sp>
      <p:pic>
        <p:nvPicPr>
          <p:cNvPr id="6" name="Picture 5" descr="06-vill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43000"/>
            <a:ext cx="3703320" cy="2331720"/>
          </a:xfrm>
          <a:prstGeom prst="rect">
            <a:avLst/>
          </a:prstGeom>
          <a:ln w="12700">
            <a:solidFill>
              <a:srgbClr val="2A2F38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365760" y="3611880"/>
            <a:ext cx="3703320" cy="822960"/>
          </a:xfrm>
          <a:prstGeom prst="rect">
            <a:avLst/>
          </a:prstGeom>
          <a:noFill/>
        </p:spPr>
        <p:txBody rtl="1">
          <a:bodyPr wrap="square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3EBDC"/>
                </a:solidFill>
                <a:latin typeface="Arial"/>
              </a:rPr>
              <a:t>فيلير-بوكاج
رتل توقف بلا صورة</a:t>
            </a:r>
          </a:p>
        </p:txBody>
      </p:sp>
      <p:pic>
        <p:nvPicPr>
          <p:cNvPr id="8" name="Picture 7" descr="07-eleva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143000"/>
            <a:ext cx="3703320" cy="2331720"/>
          </a:xfrm>
          <a:prstGeom prst="rect">
            <a:avLst/>
          </a:prstGeom>
          <a:ln w="12700">
            <a:solidFill>
              <a:srgbClr val="2A2F38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4297680" y="3611880"/>
            <a:ext cx="3703320" cy="822960"/>
          </a:xfrm>
          <a:prstGeom prst="rect">
            <a:avLst/>
          </a:prstGeom>
          <a:noFill/>
        </p:spPr>
        <p:txBody rtl="1">
          <a:bodyPr wrap="square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3EBDC"/>
                </a:solidFill>
                <a:latin typeface="Arial"/>
              </a:rPr>
              <a:t>صومعة ستالينغراد
الدخول بلا النظر للأعلى</a:t>
            </a:r>
          </a:p>
        </p:txBody>
      </p:sp>
      <p:pic>
        <p:nvPicPr>
          <p:cNvPr id="10" name="Picture 9" descr="08-kasser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1143000"/>
            <a:ext cx="3703320" cy="2331720"/>
          </a:xfrm>
          <a:prstGeom prst="rect">
            <a:avLst/>
          </a:prstGeom>
          <a:ln w="12700">
            <a:solidFill>
              <a:srgbClr val="2A2F38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8229600" y="3611880"/>
            <a:ext cx="3703320" cy="822960"/>
          </a:xfrm>
          <a:prstGeom prst="rect">
            <a:avLst/>
          </a:prstGeom>
          <a:noFill/>
        </p:spPr>
        <p:txBody rtl="1">
          <a:bodyPr wrap="square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3EBDC"/>
                </a:solidFill>
                <a:latin typeface="Arial"/>
              </a:rPr>
              <a:t>ممر قصرين
فجوة لم يغطّها أحد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663440"/>
            <a:ext cx="11247120" cy="1371600"/>
          </a:xfrm>
          <a:prstGeom prst="rect">
            <a:avLst/>
          </a:prstGeom>
          <a:noFill/>
        </p:spPr>
        <p:txBody rtl="1">
          <a:bodyPr wrap="square"/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F3EBDC"/>
                </a:solidFill>
                <a:latin typeface="Arial"/>
              </a:rPr>
              <a:t>التاريخ أرخص من تكرار الأرض غير المقروءة. القضايا الثلاث مكتوبة لأن الخطأ دُوِّن: عمود بلا صورة، مبنى بلا سقف، فراغ بلا تغطية. المعلم يعيد المشهد ثم يسأل الصف: أين كان العمى؟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37960"/>
            <a:ext cx="7315200" cy="256032"/>
          </a:xfrm>
          <a:prstGeom prst="rect">
            <a:avLst/>
          </a:prstGeom>
          <a:noFill/>
        </p:spPr>
        <p:txBody rtl="1"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9F90"/>
                </a:solidFill>
                <a:latin typeface="Arial"/>
              </a:rPr>
              <a:t>فهد أحمد الظاهري  ·  vibe coding  ·  Unread Ground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53796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89F90"/>
                </a:solidFill>
                <a:latin typeface="Arial"/>
              </a:rPr>
              <a:t>11  / 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A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 rtl="1">
          <a:bodyPr wrap="square"/>
          <a:lstStyle/>
          <a:p>
            <a:pPr algn="r">
              <a:spcAft>
                <a:spcPts val="0"/>
              </a:spcAft>
            </a:pPr>
            <a:r>
              <a:rPr sz="2800" b="1" i="0">
                <a:solidFill>
                  <a:srgbClr val="F3EBDC"/>
                </a:solidFill>
                <a:latin typeface="Arial"/>
              </a:rPr>
              <a:t>محاكي الصف — من الأعلى ومن العين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4A06A"/>
                </a:solidFill>
                <a:latin typeface="Arial"/>
              </a:rPr>
              <a:t>Instructor top-down, trainee first-person</a:t>
            </a:r>
          </a:p>
        </p:txBody>
      </p:sp>
      <p:pic>
        <p:nvPicPr>
          <p:cNvPr id="6" name="Picture 5" descr="11-tr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15568"/>
            <a:ext cx="7406640" cy="4617720"/>
          </a:xfrm>
          <a:prstGeom prst="rect">
            <a:avLst/>
          </a:prstGeom>
          <a:ln w="12700">
            <a:solidFill>
              <a:srgbClr val="2A2F38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7955279" y="1234440"/>
            <a:ext cx="3840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600" b="0" i="0">
                <a:solidFill>
                  <a:srgbClr val="F3EBDC"/>
                </a:solidFill>
                <a:latin typeface="Arial"/>
              </a:rPr>
              <a:t>•  منظور المدرّس فوق الخريطة.</a:t>
            </a:r>
          </a:p>
          <a:p>
            <a:pPr algn="r">
              <a:spcAft>
                <a:spcPts val="800"/>
              </a:spcAft>
            </a:pPr>
            <a:r>
              <a:rPr sz="1600" b="0" i="0">
                <a:solidFill>
                  <a:srgbClr val="F3EBDC"/>
                </a:solidFill>
                <a:latin typeface="Arial"/>
              </a:rPr>
              <a:t>•  منظور المتدرّب داخل المشهد.</a:t>
            </a:r>
          </a:p>
          <a:p>
            <a:pPr algn="r">
              <a:spcAft>
                <a:spcPts val="800"/>
              </a:spcAft>
            </a:pPr>
            <a:r>
              <a:rPr sz="1600" b="0" i="0">
                <a:solidFill>
                  <a:srgbClr val="F3EBDC"/>
                </a:solidFill>
                <a:latin typeface="Arial"/>
              </a:rPr>
              <a:t>•  تمييز إيجابي مطلوب.</a:t>
            </a:r>
          </a:p>
          <a:p>
            <a:pPr algn="r">
              <a:spcAft>
                <a:spcPts val="800"/>
              </a:spcAft>
            </a:pPr>
            <a:r>
              <a:rPr sz="1600" b="0" i="0">
                <a:solidFill>
                  <a:srgbClr val="F3EBDC"/>
                </a:solidFill>
                <a:latin typeface="Arial"/>
              </a:rPr>
              <a:t>•  سجل بعد العمل في الجلسة.</a:t>
            </a:r>
          </a:p>
          <a:p>
            <a:pPr algn="r">
              <a:spcAft>
                <a:spcPts val="800"/>
              </a:spcAft>
            </a:pPr>
            <a:r>
              <a:rPr sz="1600" b="0" i="0">
                <a:solidFill>
                  <a:srgbClr val="F3EBDC"/>
                </a:solidFill>
                <a:latin typeface="Arial"/>
              </a:rPr>
              <a:t>•  لإدارة نقاش لا لمحاكاة حرب.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37960"/>
            <a:ext cx="7315200" cy="256032"/>
          </a:xfrm>
          <a:prstGeom prst="rect">
            <a:avLst/>
          </a:prstGeom>
          <a:noFill/>
        </p:spPr>
        <p:txBody rtl="1"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9F90"/>
                </a:solidFill>
                <a:latin typeface="Arial"/>
              </a:rPr>
              <a:t>فهد أحمد الظاهري  ·  vibe coding  ·  Unread Ground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3796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89F90"/>
                </a:solidFill>
                <a:latin typeface="Arial"/>
              </a:rPr>
              <a:t>12  / 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A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 rtl="1">
          <a:bodyPr wrap="square"/>
          <a:lstStyle/>
          <a:p>
            <a:pPr algn="r">
              <a:spcAft>
                <a:spcPts val="0"/>
              </a:spcAft>
            </a:pPr>
            <a:r>
              <a:rPr sz="2800" b="1" i="0">
                <a:solidFill>
                  <a:srgbClr val="F3EBDC"/>
                </a:solidFill>
                <a:latin typeface="Arial"/>
              </a:rPr>
              <a:t>سيناريوهات إضافية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4A06A"/>
                </a:solidFill>
                <a:latin typeface="Arial"/>
              </a:rPr>
              <a:t>WW2 outdoor · Anzio awareness · after-action replay</a:t>
            </a:r>
          </a:p>
        </p:txBody>
      </p:sp>
      <p:pic>
        <p:nvPicPr>
          <p:cNvPr id="6" name="Picture 5" descr="12-ww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43000"/>
            <a:ext cx="3703320" cy="2331720"/>
          </a:xfrm>
          <a:prstGeom prst="rect">
            <a:avLst/>
          </a:prstGeom>
          <a:ln w="12700">
            <a:solidFill>
              <a:srgbClr val="2A2F38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365760" y="3611880"/>
            <a:ext cx="3703320" cy="777240"/>
          </a:xfrm>
          <a:prstGeom prst="rect">
            <a:avLst/>
          </a:prstGeom>
          <a:noFill/>
        </p:spPr>
        <p:txBody rtl="1">
          <a:bodyPr wrap="square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3EBDC"/>
                </a:solidFill>
                <a:latin typeface="Arial"/>
              </a:rPr>
              <a:t>إعادة تمثيل خارجية
نهر، بلدة، جسر</a:t>
            </a:r>
          </a:p>
        </p:txBody>
      </p:sp>
      <p:pic>
        <p:nvPicPr>
          <p:cNvPr id="8" name="Picture 7" descr="13-ambu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143000"/>
            <a:ext cx="3703320" cy="2331720"/>
          </a:xfrm>
          <a:prstGeom prst="rect">
            <a:avLst/>
          </a:prstGeom>
          <a:ln w="12700">
            <a:solidFill>
              <a:srgbClr val="2A2F38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4297680" y="3611880"/>
            <a:ext cx="3703320" cy="777240"/>
          </a:xfrm>
          <a:prstGeom prst="rect">
            <a:avLst/>
          </a:prstGeom>
          <a:noFill/>
        </p:spPr>
        <p:txBody rtl="1">
          <a:bodyPr wrap="square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3EBDC"/>
                </a:solidFill>
                <a:latin typeface="Arial"/>
              </a:rPr>
              <a:t>تشيزترنا ١٩٤٤
ما لم يُقرأ بجانب الطريق</a:t>
            </a:r>
          </a:p>
        </p:txBody>
      </p:sp>
      <p:pic>
        <p:nvPicPr>
          <p:cNvPr id="10" name="Picture 9" descr="14-a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1143000"/>
            <a:ext cx="3703320" cy="2331720"/>
          </a:xfrm>
          <a:prstGeom prst="rect">
            <a:avLst/>
          </a:prstGeom>
          <a:ln w="12700">
            <a:solidFill>
              <a:srgbClr val="2A2F38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8229600" y="3611880"/>
            <a:ext cx="3703320" cy="777240"/>
          </a:xfrm>
          <a:prstGeom prst="rect">
            <a:avLst/>
          </a:prstGeom>
          <a:noFill/>
        </p:spPr>
        <p:txBody rtl="1">
          <a:bodyPr wrap="square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3EBDC"/>
                </a:solidFill>
                <a:latin typeface="Arial"/>
              </a:rPr>
              <a:t>إعادة بعد العمل
الحكم بعد المشهد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617720"/>
            <a:ext cx="11247120" cy="1371600"/>
          </a:xfrm>
          <a:prstGeom prst="rect">
            <a:avLst/>
          </a:prstGeom>
          <a:noFill/>
        </p:spPr>
        <p:txBody rtl="1">
          <a:bodyPr wrap="square"/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F3EBDC"/>
                </a:solidFill>
                <a:latin typeface="Arial"/>
              </a:rPr>
              <a:t>كل مشهد مصدره تاريخ عام. بلا مشاهد دموية. ثلاثة في الرتل، ثلاثة مجهولون في الحقل — تمرين رؤية لا تمرين كمين. المعلم يوقف الزمن ويمنح الصف حق الاعتراض.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37960"/>
            <a:ext cx="7315200" cy="256032"/>
          </a:xfrm>
          <a:prstGeom prst="rect">
            <a:avLst/>
          </a:prstGeom>
          <a:noFill/>
        </p:spPr>
        <p:txBody rtl="1"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9F90"/>
                </a:solidFill>
                <a:latin typeface="Arial"/>
              </a:rPr>
              <a:t>فهد أحمد الظاهري  ·  vibe coding  ·  Unread Ground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53796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89F90"/>
                </a:solidFill>
                <a:latin typeface="Arial"/>
              </a:rPr>
              <a:t>13  / 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A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 rtl="1">
          <a:bodyPr wrap="square"/>
          <a:lstStyle/>
          <a:p>
            <a:pPr algn="r">
              <a:spcAft>
                <a:spcPts val="0"/>
              </a:spcAft>
            </a:pPr>
            <a:r>
              <a:rPr sz="2800" b="1" i="0">
                <a:solidFill>
                  <a:srgbClr val="F3EBDC"/>
                </a:solidFill>
                <a:latin typeface="Arial"/>
              </a:rPr>
              <a:t>أداء الطلاب — كشف المدرّس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4A06A"/>
                </a:solidFill>
                <a:latin typeface="Arial"/>
              </a:rPr>
              <a:t>Thirty names. A mark on every simulation. No student login.</a:t>
            </a:r>
          </a:p>
        </p:txBody>
      </p:sp>
      <p:pic>
        <p:nvPicPr>
          <p:cNvPr id="6" name="Picture 5" descr="09-stud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15568"/>
            <a:ext cx="7406640" cy="4617720"/>
          </a:xfrm>
          <a:prstGeom prst="rect">
            <a:avLst/>
          </a:prstGeom>
          <a:ln w="12700">
            <a:solidFill>
              <a:srgbClr val="2A2F38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7955279" y="1234440"/>
            <a:ext cx="3840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600" b="0" i="0">
                <a:solidFill>
                  <a:srgbClr val="F3EBDC"/>
                </a:solidFill>
                <a:latin typeface="Arial"/>
              </a:rPr>
              <a:t>•  ثلاثون متعلمًا بأسماء الصف.</a:t>
            </a:r>
          </a:p>
          <a:p>
            <a:pPr algn="r">
              <a:spcAft>
                <a:spcPts val="800"/>
              </a:spcAft>
            </a:pPr>
            <a:r>
              <a:rPr sz="1600" b="0" i="0">
                <a:solidFill>
                  <a:srgbClr val="F3EBDC"/>
                </a:solidFill>
                <a:latin typeface="Arial"/>
              </a:rPr>
              <a:t>•  درجة لكل محاكاة.</a:t>
            </a:r>
          </a:p>
          <a:p>
            <a:pPr algn="r">
              <a:spcAft>
                <a:spcPts val="800"/>
              </a:spcAft>
            </a:pPr>
            <a:r>
              <a:rPr sz="1600" b="0" i="0">
                <a:solidFill>
                  <a:srgbClr val="F3EBDC"/>
                </a:solidFill>
                <a:latin typeface="Arial"/>
              </a:rPr>
              <a:t>•  معدل، أعلى درجة، من يحتاج نظرة.</a:t>
            </a:r>
          </a:p>
          <a:p>
            <a:pPr algn="r">
              <a:spcAft>
                <a:spcPts val="800"/>
              </a:spcAft>
            </a:pPr>
            <a:r>
              <a:rPr sz="1600" b="0" i="0">
                <a:solidFill>
                  <a:srgbClr val="F3EBDC"/>
                </a:solidFill>
                <a:latin typeface="Arial"/>
              </a:rPr>
              <a:t>•  بحث بالاسم.</a:t>
            </a:r>
          </a:p>
          <a:p>
            <a:pPr algn="r">
              <a:spcAft>
                <a:spcPts val="800"/>
              </a:spcAft>
            </a:pPr>
            <a:r>
              <a:rPr sz="1600" b="0" i="0">
                <a:solidFill>
                  <a:srgbClr val="F3EBDC"/>
                </a:solidFill>
                <a:latin typeface="Arial"/>
              </a:rPr>
              <a:t>•  الموقع للمدرّس فقط.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37960"/>
            <a:ext cx="7315200" cy="256032"/>
          </a:xfrm>
          <a:prstGeom prst="rect">
            <a:avLst/>
          </a:prstGeom>
          <a:noFill/>
        </p:spPr>
        <p:txBody rtl="1"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9F90"/>
                </a:solidFill>
                <a:latin typeface="Arial"/>
              </a:rPr>
              <a:t>فهد أحمد الظاهري  ·  vibe coding  ·  Unread Ground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3796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89F90"/>
                </a:solidFill>
                <a:latin typeface="Arial"/>
              </a:rPr>
              <a:t>14  / 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A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 rtl="1">
          <a:bodyPr wrap="square"/>
          <a:lstStyle/>
          <a:p>
            <a:pPr algn="r">
              <a:spcAft>
                <a:spcPts val="0"/>
              </a:spcAft>
            </a:pPr>
            <a:r>
              <a:rPr sz="2800" b="1" i="0">
                <a:solidFill>
                  <a:srgbClr val="F3EBDC"/>
                </a:solidFill>
                <a:latin typeface="Arial"/>
              </a:rPr>
              <a:t>لوحة الصف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4A06A"/>
                </a:solidFill>
                <a:latin typeface="Arial"/>
              </a:rPr>
              <a:t>Live board — numbers count from zero, charts react on hover</a:t>
            </a:r>
          </a:p>
        </p:txBody>
      </p:sp>
      <p:pic>
        <p:nvPicPr>
          <p:cNvPr id="6" name="Picture 5" descr="10-dash-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0"/>
            <a:ext cx="7498079" cy="4663440"/>
          </a:xfrm>
          <a:prstGeom prst="rect">
            <a:avLst/>
          </a:prstGeom>
          <a:ln w="12700">
            <a:solidFill>
              <a:srgbClr val="2A2F38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7955279" y="1188720"/>
            <a:ext cx="3840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600" b="0" i="0">
                <a:solidFill>
                  <a:srgbClr val="F3EBDC"/>
                </a:solidFill>
                <a:latin typeface="Arial"/>
              </a:rPr>
              <a:t>•  معدل الصف يعدّ من صفر.</a:t>
            </a:r>
          </a:p>
          <a:p>
            <a:pPr algn="r">
              <a:spcAft>
                <a:spcPts val="800"/>
              </a:spcAft>
            </a:pPr>
            <a:r>
              <a:rPr sz="1600" b="0" i="0">
                <a:solidFill>
                  <a:srgbClr val="F3EBDC"/>
                </a:solidFill>
                <a:latin typeface="Arial"/>
              </a:rPr>
              <a:t>•  حضور، إنجاز، نطاقات الدرجات.</a:t>
            </a:r>
          </a:p>
          <a:p>
            <a:pPr algn="r">
              <a:spcAft>
                <a:spcPts val="800"/>
              </a:spcAft>
            </a:pPr>
            <a:r>
              <a:rPr sz="1600" b="0" i="0">
                <a:solidFill>
                  <a:srgbClr val="F3EBDC"/>
                </a:solidFill>
                <a:latin typeface="Arial"/>
              </a:rPr>
              <a:t>•  أعمدة لكل محاكاة.</a:t>
            </a:r>
          </a:p>
          <a:p>
            <a:pPr algn="r">
              <a:spcAft>
                <a:spcPts val="800"/>
              </a:spcAft>
            </a:pPr>
            <a:r>
              <a:rPr sz="1600" b="0" i="0">
                <a:solidFill>
                  <a:srgbClr val="F3EBDC"/>
                </a:solidFill>
                <a:latin typeface="Arial"/>
              </a:rPr>
              <a:t>•  نبض الأسبوع: ساعات حية وتمرين.</a:t>
            </a:r>
          </a:p>
          <a:p>
            <a:pPr algn="r">
              <a:spcAft>
                <a:spcPts val="800"/>
              </a:spcAft>
            </a:pPr>
            <a:r>
              <a:rPr sz="1600" b="0" i="0">
                <a:solidFill>
                  <a:srgbClr val="F3EBDC"/>
                </a:solidFill>
                <a:latin typeface="Arial"/>
              </a:rPr>
              <a:t>•  أزرق وأخضر وتدرّج هادئ.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37960"/>
            <a:ext cx="7315200" cy="256032"/>
          </a:xfrm>
          <a:prstGeom prst="rect">
            <a:avLst/>
          </a:prstGeom>
          <a:noFill/>
        </p:spPr>
        <p:txBody rtl="1"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9F90"/>
                </a:solidFill>
                <a:latin typeface="Arial"/>
              </a:rPr>
              <a:t>فهد أحمد الظاهري  ·  vibe coding  ·  Unread Ground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3796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89F90"/>
                </a:solidFill>
                <a:latin typeface="Arial"/>
              </a:rPr>
              <a:t>15  / 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A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 rtl="1">
          <a:bodyPr wrap="square"/>
          <a:lstStyle/>
          <a:p>
            <a:pPr algn="r">
              <a:spcAft>
                <a:spcPts val="0"/>
              </a:spcAft>
            </a:pPr>
            <a:r>
              <a:rPr sz="2800" b="1" i="0">
                <a:solidFill>
                  <a:srgbClr val="F3EBDC"/>
                </a:solidFill>
                <a:latin typeface="Arial"/>
              </a:rPr>
              <a:t>لوحة الحرب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4A06A"/>
                </a:solidFill>
                <a:latin typeface="Arial"/>
              </a:rPr>
              <a:t>Deaths, cost, land, years — classroom estimates, not a ledger</a:t>
            </a:r>
          </a:p>
        </p:txBody>
      </p:sp>
      <p:pic>
        <p:nvPicPr>
          <p:cNvPr id="6" name="Picture 5" descr="10b-dash-w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0"/>
            <a:ext cx="7498079" cy="4663440"/>
          </a:xfrm>
          <a:prstGeom prst="rect">
            <a:avLst/>
          </a:prstGeom>
          <a:ln w="12700">
            <a:solidFill>
              <a:srgbClr val="2A2F38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7955279" y="1188720"/>
            <a:ext cx="3840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500" b="0" i="0">
                <a:solidFill>
                  <a:srgbClr val="F3EBDC"/>
                </a:solidFill>
                <a:latin typeface="Arial"/>
              </a:rPr>
              <a:t>•  قتلى عسكريون ومدنيون.</a:t>
            </a:r>
          </a:p>
          <a:p>
            <a:pPr algn="r">
              <a:spcAft>
                <a:spcPts val="800"/>
              </a:spcAft>
            </a:pPr>
            <a:r>
              <a:rPr sz="1500" b="0" i="0">
                <a:solidFill>
                  <a:srgbClr val="F3EBDC"/>
                </a:solidFill>
                <a:latin typeface="Arial"/>
              </a:rPr>
              <a:t>•  كلفة الحرب بالدولار.</a:t>
            </a:r>
          </a:p>
          <a:p>
            <a:pPr algn="r">
              <a:spcAft>
                <a:spcPts val="800"/>
              </a:spcAft>
            </a:pPr>
            <a:r>
              <a:rPr sz="1500" b="0" i="0">
                <a:solidFill>
                  <a:srgbClr val="F3EBDC"/>
                </a:solidFill>
                <a:latin typeface="Arial"/>
              </a:rPr>
              <a:t>•  أرض محتلة كم² حسب السنة.</a:t>
            </a:r>
          </a:p>
          <a:p>
            <a:pPr algn="r">
              <a:spcAft>
                <a:spcPts val="800"/>
              </a:spcAft>
            </a:pPr>
            <a:r>
              <a:rPr sz="1500" b="0" i="0">
                <a:solidFill>
                  <a:srgbClr val="F3EBDC"/>
                </a:solidFill>
                <a:latin typeface="Arial"/>
              </a:rPr>
              <a:t>•  نفقات الدول، نصيب الجبهات.</a:t>
            </a:r>
          </a:p>
          <a:p>
            <a:pPr algn="r">
              <a:spcAft>
                <a:spcPts val="800"/>
              </a:spcAft>
            </a:pPr>
            <a:r>
              <a:rPr sz="1500" b="0" i="0">
                <a:solidFill>
                  <a:srgbClr val="F3EBDC"/>
                </a:solidFill>
                <a:latin typeface="Arial"/>
              </a:rPr>
              <a:t>•  طائرات، سفن، دبابات، أسرى.</a:t>
            </a:r>
          </a:p>
          <a:p>
            <a:pPr algn="r">
              <a:spcAft>
                <a:spcPts val="800"/>
              </a:spcAft>
            </a:pPr>
            <a:r>
              <a:rPr sz="1500" b="0" i="0">
                <a:solidFill>
                  <a:srgbClr val="F3EBDC"/>
                </a:solidFill>
                <a:latin typeface="Arial"/>
              </a:rPr>
              <a:t>•  أرقام للنقاش لا للتمجيد.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37960"/>
            <a:ext cx="7315200" cy="256032"/>
          </a:xfrm>
          <a:prstGeom prst="rect">
            <a:avLst/>
          </a:prstGeom>
          <a:noFill/>
        </p:spPr>
        <p:txBody rtl="1"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9F90"/>
                </a:solidFill>
                <a:latin typeface="Arial"/>
              </a:rPr>
              <a:t>فهد أحمد الظاهري  ·  vibe coding  ·  Unread Ground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3796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89F90"/>
                </a:solidFill>
                <a:latin typeface="Arial"/>
              </a:rPr>
              <a:t>16  / 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A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 rtl="1">
          <a:bodyPr wrap="square"/>
          <a:lstStyle/>
          <a:p>
            <a:pPr algn="r">
              <a:spcAft>
                <a:spcPts val="0"/>
              </a:spcAft>
            </a:pPr>
            <a:r>
              <a:rPr sz="2800" b="1" i="0">
                <a:solidFill>
                  <a:srgbClr val="F3EBDC"/>
                </a:solidFill>
                <a:latin typeface="Arial"/>
              </a:rPr>
              <a:t>ما هذا — وما ليس هذا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4A06A"/>
                </a:solidFill>
                <a:latin typeface="Arial"/>
              </a:rPr>
              <a:t>Say this out loud before every demo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5486400" cy="4572000"/>
          </a:xfrm>
          <a:prstGeom prst="roundRect">
            <a:avLst/>
          </a:prstGeom>
          <a:solidFill>
            <a:srgbClr val="141820"/>
          </a:solidFill>
          <a:ln>
            <a:solidFill>
              <a:srgbClr val="C4A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63640" y="1234440"/>
            <a:ext cx="5486400" cy="4572000"/>
          </a:xfrm>
          <a:prstGeom prst="roundRect">
            <a:avLst/>
          </a:prstGeom>
          <a:solidFill>
            <a:srgbClr val="141820"/>
          </a:solidFill>
          <a:ln>
            <a:solidFill>
              <a:srgbClr val="2A2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5029200" cy="457200"/>
          </a:xfrm>
          <a:prstGeom prst="rect">
            <a:avLst/>
          </a:prstGeom>
          <a:noFill/>
        </p:spPr>
        <p:txBody rtl="1">
          <a:bodyPr wrap="square"/>
          <a:lstStyle/>
          <a:p>
            <a:pPr algn="r">
              <a:spcAft>
                <a:spcPts val="0"/>
              </a:spcAft>
            </a:pPr>
            <a:r>
              <a:rPr sz="2200" b="1" i="0">
                <a:solidFill>
                  <a:srgbClr val="C4A06A"/>
                </a:solidFill>
                <a:latin typeface="Arial"/>
              </a:rPr>
              <a:t>ما هذا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417320"/>
            <a:ext cx="5029200" cy="457200"/>
          </a:xfrm>
          <a:prstGeom prst="rect">
            <a:avLst/>
          </a:prstGeom>
          <a:noFill/>
        </p:spPr>
        <p:txBody rtl="1">
          <a:bodyPr wrap="square"/>
          <a:lstStyle/>
          <a:p>
            <a:pPr algn="r">
              <a:spcAft>
                <a:spcPts val="0"/>
              </a:spcAft>
            </a:pPr>
            <a:r>
              <a:rPr sz="2200" b="1" i="0">
                <a:solidFill>
                  <a:srgbClr val="A89F90"/>
                </a:solidFill>
                <a:latin typeface="Arial"/>
              </a:rPr>
              <a:t>ما ليس هذا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65960"/>
            <a:ext cx="5029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600" b="0" i="0">
                <a:solidFill>
                  <a:srgbClr val="F3EBDC"/>
                </a:solidFill>
                <a:latin typeface="Arial"/>
              </a:rPr>
              <a:t>•  بعد عمل تاريخي مسمّى.</a:t>
            </a:r>
          </a:p>
          <a:p>
            <a:pPr algn="r">
              <a:spcAft>
                <a:spcPts val="800"/>
              </a:spcAft>
            </a:pPr>
            <a:r>
              <a:rPr sz="1600" b="0" i="0">
                <a:solidFill>
                  <a:srgbClr val="F3EBDC"/>
                </a:solidFill>
                <a:latin typeface="Arial"/>
              </a:rPr>
              <a:t>•  أداة شرح للمعلم.</a:t>
            </a:r>
          </a:p>
          <a:p>
            <a:pPr algn="r">
              <a:spcAft>
                <a:spcPts val="800"/>
              </a:spcAft>
            </a:pPr>
            <a:r>
              <a:rPr sz="1600" b="0" i="0">
                <a:solidFill>
                  <a:srgbClr val="F3EBDC"/>
                </a:solidFill>
                <a:latin typeface="Arial"/>
              </a:rPr>
              <a:t>•  حكم: ماذا فات، ماذا أخطأ.</a:t>
            </a:r>
          </a:p>
          <a:p>
            <a:pPr algn="r">
              <a:spcAft>
                <a:spcPts val="800"/>
              </a:spcAft>
            </a:pPr>
            <a:r>
              <a:rPr sz="1600" b="0" i="0">
                <a:solidFill>
                  <a:srgbClr val="F3EBDC"/>
                </a:solidFill>
                <a:latin typeface="Arial"/>
              </a:rPr>
              <a:t>•  مصادر عامة أسفل الصفحات.</a:t>
            </a:r>
          </a:p>
          <a:p>
            <a:pPr algn="r">
              <a:spcAft>
                <a:spcPts val="800"/>
              </a:spcAft>
            </a:pPr>
            <a:r>
              <a:rPr sz="1600" b="0" i="0">
                <a:solidFill>
                  <a:srgbClr val="F3EBDC"/>
                </a:solidFill>
                <a:latin typeface="Arial"/>
              </a:rPr>
              <a:t>•  صف حي: لغة، ضوء، صوت.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965960"/>
            <a:ext cx="5029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600" b="0" i="0">
                <a:solidFill>
                  <a:srgbClr val="F3EBDC"/>
                </a:solidFill>
                <a:latin typeface="Arial"/>
              </a:rPr>
              <a:t>•  ليس تعليم قتال.</a:t>
            </a:r>
          </a:p>
          <a:p>
            <a:pPr algn="r">
              <a:spcAft>
                <a:spcPts val="800"/>
              </a:spcAft>
            </a:pPr>
            <a:r>
              <a:rPr sz="1600" b="0" i="0">
                <a:solidFill>
                  <a:srgbClr val="F3EBDC"/>
                </a:solidFill>
                <a:latin typeface="Arial"/>
              </a:rPr>
              <a:t>•  ليس طريقة اقتحام أو كمين.</a:t>
            </a:r>
          </a:p>
          <a:p>
            <a:pPr algn="r">
              <a:spcAft>
                <a:spcPts val="800"/>
              </a:spcAft>
            </a:pPr>
            <a:r>
              <a:rPr sz="1600" b="0" i="0">
                <a:solidFill>
                  <a:srgbClr val="F3EBDC"/>
                </a:solidFill>
                <a:latin typeface="Arial"/>
              </a:rPr>
              <a:t>•  ليس دفتر حرب دقيقًا.</a:t>
            </a:r>
          </a:p>
          <a:p>
            <a:pPr algn="r">
              <a:spcAft>
                <a:spcPts val="800"/>
              </a:spcAft>
            </a:pPr>
            <a:r>
              <a:rPr sz="1600" b="0" i="0">
                <a:solidFill>
                  <a:srgbClr val="F3EBDC"/>
                </a:solidFill>
                <a:latin typeface="Arial"/>
              </a:rPr>
              <a:t>•  ليس لعبة ترفيه دموي.</a:t>
            </a:r>
          </a:p>
          <a:p>
            <a:pPr algn="r">
              <a:spcAft>
                <a:spcPts val="800"/>
              </a:spcAft>
            </a:pPr>
            <a:r>
              <a:rPr sz="1600" b="0" i="0">
                <a:solidFill>
                  <a:srgbClr val="F3EBDC"/>
                </a:solidFill>
                <a:latin typeface="Arial"/>
              </a:rPr>
              <a:t>•  ليس بديلًا عن دراسة حية.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537960"/>
            <a:ext cx="7315200" cy="256032"/>
          </a:xfrm>
          <a:prstGeom prst="rect">
            <a:avLst/>
          </a:prstGeom>
          <a:noFill/>
        </p:spPr>
        <p:txBody rtl="1"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9F90"/>
                </a:solidFill>
                <a:latin typeface="Arial"/>
              </a:rPr>
              <a:t>فهد أحمد الظاهري  ·  vibe coding  ·  Unread Ground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53796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89F90"/>
                </a:solidFill>
                <a:latin typeface="Arial"/>
              </a:rPr>
              <a:t>17  / 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A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ouse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960120"/>
            <a:ext cx="1097280" cy="1097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2286000"/>
            <a:ext cx="10881360" cy="640080"/>
          </a:xfrm>
          <a:prstGeom prst="rect">
            <a:avLst/>
          </a:prstGeom>
          <a:noFill/>
        </p:spPr>
        <p:txBody rtl="1">
          <a:bodyPr wrap="square"/>
          <a:lstStyle/>
          <a:p>
            <a:pPr algn="ctr">
              <a:spcAft>
                <a:spcPts val="0"/>
              </a:spcAft>
            </a:pPr>
            <a:r>
              <a:rPr sz="3200" b="1" i="0">
                <a:solidFill>
                  <a:srgbClr val="F3EBDC"/>
                </a:solidFill>
                <a:latin typeface="Arial"/>
              </a:rPr>
              <a:t>اقرأ الأرض قبل أن تعيد الخطأ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7180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4A06A"/>
                </a:solidFill>
                <a:latin typeface="Arial"/>
              </a:rPr>
              <a:t>What you did not see first.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657600"/>
            <a:ext cx="9418320" cy="822960"/>
          </a:xfrm>
          <a:prstGeom prst="rect">
            <a:avLst/>
          </a:prstGeom>
          <a:noFill/>
        </p:spPr>
        <p:txBody rtl="1">
          <a:bodyPr wrap="square"/>
          <a:lstStyle/>
          <a:p>
            <a:pPr algn="ctr">
              <a:spcAft>
                <a:spcPts val="0"/>
              </a:spcAft>
            </a:pPr>
            <a:r>
              <a:rPr sz="1600" b="0" i="0">
                <a:solidFill>
                  <a:srgbClr val="A89F90"/>
                </a:solidFill>
                <a:latin typeface="Arial"/>
              </a:rPr>
              <a:t>افتح الموقع، Force log in، ثم ابدأ من الكرة أو من لوحة الصف.
كل رقم يعدّ من صفر — مثل الحصة نفسها.</a:t>
            </a:r>
          </a:p>
        </p:txBody>
      </p:sp>
      <p:sp>
        <p:nvSpPr>
          <p:cNvPr id="8" name="Rectangle 7"/>
          <p:cNvSpPr/>
          <p:nvPr/>
        </p:nvSpPr>
        <p:spPr>
          <a:xfrm>
            <a:off x="4937760" y="4663440"/>
            <a:ext cx="2286000" cy="32004"/>
          </a:xfrm>
          <a:prstGeom prst="rect">
            <a:avLst/>
          </a:prstGeom>
          <a:solidFill>
            <a:srgbClr val="C4A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937760"/>
            <a:ext cx="10881360" cy="365760"/>
          </a:xfrm>
          <a:prstGeom prst="rect">
            <a:avLst/>
          </a:prstGeom>
          <a:noFill/>
        </p:spPr>
        <p:txBody rtl="1">
          <a:bodyPr wrap="square"/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F3EBDC"/>
                </a:solidFill>
                <a:latin typeface="Arial"/>
              </a:rPr>
              <a:t>فهد أحمد الظاهري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34924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4A06A"/>
                </a:solidFill>
                <a:latin typeface="Arial"/>
              </a:rPr>
              <a:t>vibe coding  ·  Unread Ground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98932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89F90"/>
                </a:solidFill>
                <a:latin typeface="Arial"/>
              </a:rPr>
              <a:t>Classroom use only. Not combat instruction.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